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914400"/>
            <a:ext cx="8229600" cy="1371600"/>
          </a:xfrm>
          <a:prstGeom prst="rect">
            <a:avLst/>
          </a:prstGeom>
          <a:noFill/>
          <a:ln/>
        </p:spPr>
        <p:txBody>
          <a:bodyPr wrap="square" rtlCol="0" anchor="ctr"/>
          <a:lstStyle/>
          <a:p>
            <a:pPr algn="l" indent="0" marL="0">
              <a:buNone/>
            </a:pPr>
            <a:r>
              <a:rPr lang="en-US" sz="8000" b="1" spc="800" kern="0" dirty="0">
                <a:solidFill>
                  <a:srgbClr val="FFFFFF"/>
                </a:solidFill>
                <a:latin typeface="Arial" pitchFamily="34" charset="0"/>
                <a:ea typeface="Arial" pitchFamily="34" charset="-122"/>
                <a:cs typeface="Arial" pitchFamily="34" charset="-120"/>
              </a:rPr>
              <a:t>美術館</a:t>
            </a:r>
            <a:endParaRPr lang="en-US" sz="8000" dirty="0"/>
          </a:p>
        </p:txBody>
      </p:sp>
      <p:sp>
        <p:nvSpPr>
          <p:cNvPr id="3" name="Text 1"/>
          <p:cNvSpPr/>
          <p:nvPr/>
        </p:nvSpPr>
        <p:spPr>
          <a:xfrm>
            <a:off x="457200" y="2286000"/>
            <a:ext cx="8229600" cy="640080"/>
          </a:xfrm>
          <a:prstGeom prst="rect">
            <a:avLst/>
          </a:prstGeom>
          <a:noFill/>
          <a:ln/>
        </p:spPr>
        <p:txBody>
          <a:bodyPr wrap="square" rtlCol="0" anchor="ctr"/>
          <a:lstStyle/>
          <a:p>
            <a:pPr algn="l" indent="0" marL="0">
              <a:buNone/>
            </a:pPr>
            <a:r>
              <a:rPr lang="en-US" sz="2600" spc="600" kern="0" dirty="0">
                <a:solidFill>
                  <a:srgbClr val="666666"/>
                </a:solidFill>
                <a:latin typeface="Arial" pitchFamily="34" charset="0"/>
                <a:ea typeface="Arial" pitchFamily="34" charset="-122"/>
                <a:cs typeface="Arial" pitchFamily="34" charset="-120"/>
              </a:rPr>
              <a:t>案例分析</a:t>
            </a:r>
            <a:endParaRPr lang="en-US" sz="2600" dirty="0"/>
          </a:p>
        </p:txBody>
      </p:sp>
      <p:sp>
        <p:nvSpPr>
          <p:cNvPr id="4" name="Shape 2"/>
          <p:cNvSpPr/>
          <p:nvPr/>
        </p:nvSpPr>
        <p:spPr>
          <a:xfrm>
            <a:off x="457200" y="3108960"/>
            <a:ext cx="8229600" cy="0"/>
          </a:xfrm>
          <a:prstGeom prst="line">
            <a:avLst/>
          </a:prstGeom>
          <a:noFill/>
          <a:ln w="6350">
            <a:solidFill>
              <a:srgbClr val="444444"/>
            </a:solidFill>
            <a:prstDash val="solid"/>
          </a:ln>
        </p:spPr>
      </p:sp>
      <p:sp>
        <p:nvSpPr>
          <p:cNvPr id="5" name="Text 3"/>
          <p:cNvSpPr/>
          <p:nvPr/>
        </p:nvSpPr>
        <p:spPr>
          <a:xfrm>
            <a:off x="457200" y="3291840"/>
            <a:ext cx="6400800" cy="320040"/>
          </a:xfrm>
          <a:prstGeom prst="rect">
            <a:avLst/>
          </a:prstGeom>
          <a:noFill/>
          <a:ln/>
        </p:spPr>
        <p:txBody>
          <a:bodyPr wrap="square" rtlCol="0" anchor="ctr"/>
          <a:lstStyle/>
          <a:p>
            <a:pPr algn="l" indent="0" marL="0">
              <a:buNone/>
            </a:pPr>
            <a:r>
              <a:rPr lang="en-US" sz="900" spc="150" kern="0" dirty="0">
                <a:solidFill>
                  <a:srgbClr val="666666"/>
                </a:solidFill>
                <a:latin typeface="Arial" pitchFamily="34" charset="0"/>
                <a:ea typeface="Arial" pitchFamily="34" charset="-122"/>
                <a:cs typeface="Arial" pitchFamily="34" charset="-120"/>
              </a:rPr>
              <a:t>16 個案例  ·  6 個設計策略主題  ·  全球</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01</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建築作為都市事件</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當建築物本身成為城市再生的引擎與文化地標</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Guggenheim Bilbao  ·  Fondation Louis Vuitton  ·  Museo Soumaya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01  建築作為都市事件</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01</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畢爾包古根漢美術館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Frank Gehry  ·  西班牙  ·  1997  ·  24,000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解構主義</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鈦金屬外皮</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都市催化</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82296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Gehry 的設計核心在於「建築即雕塑」——鈦金屬外殼隨光線與視角不斷變化，建築物本身就是展覽品。不規則的量體組合打破傳統矩形美術館框架。</a:t>
            </a:r>
            <a:endParaRPr lang="en-US" sz="1000" dirty="0"/>
          </a:p>
        </p:txBody>
      </p:sp>
      <p:sp>
        <p:nvSpPr>
          <p:cNvPr id="16" name="Text 14"/>
          <p:cNvSpPr/>
          <p:nvPr/>
        </p:nvSpPr>
        <p:spPr>
          <a:xfrm>
            <a:off x="457200" y="3017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291840"/>
            <a:ext cx="4389120" cy="155448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美術館可以是城市再生的觸媒。一棟建築若能在視覺上強烈到足以改變城市印象，其文化與經濟效益遠超出建築本身。「畢爾包效應」至今仍是都市型文化設施最重要的參照案例。</a:t>
            </a:r>
            <a:endParaRPr lang="en-US" sz="1000" dirty="0"/>
          </a:p>
        </p:txBody>
      </p:sp>
      <p:sp>
        <p:nvSpPr>
          <p:cNvPr id="18" name="Shape 16"/>
          <p:cNvSpPr/>
          <p:nvPr/>
        </p:nvSpPr>
        <p:spPr>
          <a:xfrm>
            <a:off x="5120640" y="621792"/>
            <a:ext cx="3566160" cy="2103120"/>
          </a:xfrm>
          <a:prstGeom prst="rect">
            <a:avLst/>
          </a:prstGeom>
          <a:solidFill>
            <a:srgbClr val="F2F2F2"/>
          </a:solidFill>
          <a:ln w="12700">
            <a:solidFill>
              <a:srgbClr val="CCCCCC"/>
            </a:solidFill>
            <a:prstDash val="solid"/>
          </a:ln>
        </p:spPr>
      </p:sp>
      <p:sp>
        <p:nvSpPr>
          <p:cNvPr id="19" name="Text 17"/>
          <p:cNvSpPr/>
          <p:nvPr/>
        </p:nvSpPr>
        <p:spPr>
          <a:xfrm>
            <a:off x="5120640" y="141732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167335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Guggenheim Bilbao exterior Gehry titanium</a:t>
            </a:r>
            <a:endParaRPr lang="en-US" sz="800" dirty="0"/>
          </a:p>
        </p:txBody>
      </p:sp>
      <p:sp>
        <p:nvSpPr>
          <p:cNvPr id="21" name="Shape 19"/>
          <p:cNvSpPr/>
          <p:nvPr/>
        </p:nvSpPr>
        <p:spPr>
          <a:xfrm>
            <a:off x="5120640" y="2834640"/>
            <a:ext cx="3566160" cy="2103120"/>
          </a:xfrm>
          <a:prstGeom prst="rect">
            <a:avLst/>
          </a:prstGeom>
          <a:solidFill>
            <a:srgbClr val="F2F2F2"/>
          </a:solidFill>
          <a:ln w="12700">
            <a:solidFill>
              <a:srgbClr val="CCCCCC"/>
            </a:solidFill>
            <a:prstDash val="solid"/>
          </a:ln>
        </p:spPr>
      </p:sp>
      <p:sp>
        <p:nvSpPr>
          <p:cNvPr id="22" name="Text 20"/>
          <p:cNvSpPr/>
          <p:nvPr/>
        </p:nvSpPr>
        <p:spPr>
          <a:xfrm>
            <a:off x="5120640" y="3630168"/>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3" name="Text 21"/>
          <p:cNvSpPr/>
          <p:nvPr/>
        </p:nvSpPr>
        <p:spPr>
          <a:xfrm>
            <a:off x="5212080" y="3886200"/>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Guggenheim Bilbao aerial waterfront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01  建築作為都市事件</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01</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路易威登基金會</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Frank Gehry  ·  法國巴黎  ·  2014  ·  11,700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玻璃帆</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輕盈感</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公園嵌入</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9144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與畢爾包鈦金屬的厚重感相反，路易威登基金會以 12 片玻璃「帆」覆蓋木構主體，在布隆尼森林中製造出一艘停泊中的船隻意象。3,600 片各自彎曲的玻璃板使建築呈現近乎透明的輕盈。</a:t>
            </a:r>
            <a:endParaRPr lang="en-US" sz="1000" dirty="0"/>
          </a:p>
        </p:txBody>
      </p:sp>
      <p:sp>
        <p:nvSpPr>
          <p:cNvPr id="16" name="Text 14"/>
          <p:cNvSpPr/>
          <p:nvPr/>
        </p:nvSpPr>
        <p:spPr>
          <a:xfrm>
            <a:off x="457200" y="310896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383280"/>
            <a:ext cx="4389120" cy="14630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玻璃不只是透明材料，也可以是形塑建築量體的主角。當外皮系統具有強烈幾何邏輯，便能同時定義結構、立面與空間感受。</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Fondation Louis Vuitton Paris glass sails exterior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01  建築作為都市事件</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01</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索馬亞博物館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Fernando Romero  ·  墨西哥城  ·  2011  ·  17,000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參數化外皮</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六角鋁片</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無直角形體</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65176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建築外皮由 16,000 片六角形鋁板拼貼而成，覆蓋在一個雙曲面自由形體上——整棟建築沒有任何平面或直角元素。28 根高度各異的鋼柱支撐逐漸外擴的樓層，結構邏輯完全服膺於外觀造型。</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可應用的設計概念：參數化設計工具使得過去不可能的外皮幾何成為可行。外皮系統可以完全脫離結構邏輯而獨立運作，成為建築識別的核心。</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02</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光線作為設計媒介</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自然光的控制策略是空間體驗的核心</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Chichu Art Museum  ·  Kiasma  ·  Kunsthaus Bregenz  ·  Clyfford Still Museum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02  光線作為設計媒介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02</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地中美術館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安藤忠雄  ·  日本直島  ·  2004  ·  2,900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地下空間</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純自然光</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幾何天窗</a:t>
            </a:r>
            <a:endParaRPr lang="en-US" sz="750" dirty="0"/>
          </a:p>
        </p:txBody>
      </p:sp>
      <p:sp>
        <p:nvSpPr>
          <p:cNvPr id="13" name="Shape 11"/>
          <p:cNvSpPr/>
          <p:nvPr/>
        </p:nvSpPr>
        <p:spPr>
          <a:xfrm>
            <a:off x="2926080" y="1417320"/>
            <a:ext cx="731520" cy="246888"/>
          </a:xfrm>
          <a:prstGeom prst="rect">
            <a:avLst/>
          </a:prstGeom>
          <a:solidFill>
            <a:srgbClr val="000000"/>
          </a:solidFill>
          <a:ln w="12700">
            <a:solidFill>
              <a:srgbClr val="000000"/>
            </a:solidFill>
            <a:prstDash val="solid"/>
          </a:ln>
        </p:spPr>
      </p:sp>
      <p:sp>
        <p:nvSpPr>
          <p:cNvPr id="14" name="Text 12"/>
          <p:cNvSpPr/>
          <p:nvPr/>
        </p:nvSpPr>
        <p:spPr>
          <a:xfrm>
            <a:off x="299923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時間感</a:t>
            </a:r>
            <a:endParaRPr lang="en-US" sz="750" dirty="0"/>
          </a:p>
        </p:txBody>
      </p:sp>
      <p:sp>
        <p:nvSpPr>
          <p:cNvPr id="15" name="Shape 13"/>
          <p:cNvSpPr/>
          <p:nvPr/>
        </p:nvSpPr>
        <p:spPr>
          <a:xfrm>
            <a:off x="457200" y="1783080"/>
            <a:ext cx="8229600" cy="0"/>
          </a:xfrm>
          <a:prstGeom prst="line">
            <a:avLst/>
          </a:prstGeom>
          <a:noFill/>
          <a:ln w="6350">
            <a:solidFill>
              <a:srgbClr val="EEEEEE"/>
            </a:solidFill>
            <a:prstDash val="solid"/>
          </a:ln>
        </p:spPr>
      </p:sp>
      <p:sp>
        <p:nvSpPr>
          <p:cNvPr id="16" name="Text 14"/>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7" name="Text 15"/>
          <p:cNvSpPr/>
          <p:nvPr/>
        </p:nvSpPr>
        <p:spPr>
          <a:xfrm>
            <a:off x="457200" y="2148840"/>
            <a:ext cx="4389120" cy="9144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整棟建築完全埋入地下以保留直島地景。館內無任何人工照明——所有展間僅依靠幾何形天窗導入的自然光呈現作品。三件永久作品（Monet、Turrell、De Maria）各有專屬光線設計的展間。</a:t>
            </a:r>
            <a:endParaRPr lang="en-US" sz="1000" dirty="0"/>
          </a:p>
        </p:txBody>
      </p:sp>
      <p:sp>
        <p:nvSpPr>
          <p:cNvPr id="18" name="Text 16"/>
          <p:cNvSpPr/>
          <p:nvPr/>
        </p:nvSpPr>
        <p:spPr>
          <a:xfrm>
            <a:off x="457200" y="310896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9" name="Text 17"/>
          <p:cNvSpPr/>
          <p:nvPr/>
        </p:nvSpPr>
        <p:spPr>
          <a:xfrm>
            <a:off x="457200" y="3383280"/>
            <a:ext cx="4389120" cy="14630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「限制」是設計的起點而非終點。禁用人工光源這個極端條件，反而逼出最精準的空間設計——每個天窗的形狀、角度、尺寸都必須被嚴格計算。同一空間在早晨、午後、陰天呈現完全不同的氛圍。</a:t>
            </a:r>
            <a:endParaRPr lang="en-US" sz="1000" dirty="0"/>
          </a:p>
        </p:txBody>
      </p:sp>
      <p:sp>
        <p:nvSpPr>
          <p:cNvPr id="20" name="Shape 18"/>
          <p:cNvSpPr/>
          <p:nvPr/>
        </p:nvSpPr>
        <p:spPr>
          <a:xfrm>
            <a:off x="5120640" y="621792"/>
            <a:ext cx="3566160" cy="1828800"/>
          </a:xfrm>
          <a:prstGeom prst="rect">
            <a:avLst/>
          </a:prstGeom>
          <a:solidFill>
            <a:srgbClr val="F2F2F2"/>
          </a:solidFill>
          <a:ln w="12700">
            <a:solidFill>
              <a:srgbClr val="CCCCCC"/>
            </a:solidFill>
            <a:prstDash val="solid"/>
          </a:ln>
        </p:spPr>
      </p:sp>
      <p:sp>
        <p:nvSpPr>
          <p:cNvPr id="21" name="Text 19"/>
          <p:cNvSpPr/>
          <p:nvPr/>
        </p:nvSpPr>
        <p:spPr>
          <a:xfrm>
            <a:off x="5120640" y="128016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2" name="Text 20"/>
          <p:cNvSpPr/>
          <p:nvPr/>
        </p:nvSpPr>
        <p:spPr>
          <a:xfrm>
            <a:off x="5212080" y="153619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Chichu Art Museum Tadao Ando skylight interior</a:t>
            </a:r>
            <a:endParaRPr lang="en-US" sz="800" dirty="0"/>
          </a:p>
        </p:txBody>
      </p:sp>
      <p:sp>
        <p:nvSpPr>
          <p:cNvPr id="23" name="Shape 21"/>
          <p:cNvSpPr/>
          <p:nvPr/>
        </p:nvSpPr>
        <p:spPr>
          <a:xfrm>
            <a:off x="5120640" y="2560320"/>
            <a:ext cx="3566160" cy="2286000"/>
          </a:xfrm>
          <a:prstGeom prst="rect">
            <a:avLst/>
          </a:prstGeom>
          <a:solidFill>
            <a:srgbClr val="F2F2F2"/>
          </a:solidFill>
          <a:ln w="12700">
            <a:solidFill>
              <a:srgbClr val="CCCCCC"/>
            </a:solidFill>
            <a:prstDash val="solid"/>
          </a:ln>
        </p:spPr>
      </p:sp>
      <p:sp>
        <p:nvSpPr>
          <p:cNvPr id="24" name="Text 22"/>
          <p:cNvSpPr/>
          <p:nvPr/>
        </p:nvSpPr>
        <p:spPr>
          <a:xfrm>
            <a:off x="5120640" y="3447288"/>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5" name="Text 23"/>
          <p:cNvSpPr/>
          <p:nvPr/>
        </p:nvSpPr>
        <p:spPr>
          <a:xfrm>
            <a:off x="5212080" y="3703320"/>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Chichu Art Museum plan geometric courtyard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02  光線作為設計媒介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02</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奇亞斯瑪當代美術館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Steven Holl  ·  芬蘭赫爾辛基  ·  1998  ·  12,000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現象學</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漫射光</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空間序列</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65176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Holl 從「由內而外」設計——先決定每間展廳需要什麼光線品質，再決定外牆開口。結果是一連串光線條件各異的空間序列：側向斜射光、擴散頂光、細縫光帶。弧形平面同時回應赫爾辛基的城市地形與托洛灣的水岸景觀。</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可應用的設計概念：光線不是美學選擇，而是空間工具。每一個開口決定都同時是對空間性格的決定。設計前應先問：這個空間需要什麼樣的光？</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02  光線作為設計媒介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02</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布雷根茨美術館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Peter Zumthor  ·  奧地利布雷根茨  ·  1997  ·  6,800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材料誠實</a:t>
            </a:r>
            <a:endParaRPr lang="en-US" sz="750" dirty="0"/>
          </a:p>
        </p:txBody>
      </p:sp>
      <p:sp>
        <p:nvSpPr>
          <p:cNvPr id="9" name="Shape 7"/>
          <p:cNvSpPr/>
          <p:nvPr/>
        </p:nvSpPr>
        <p:spPr>
          <a:xfrm>
            <a:off x="1280160" y="1417320"/>
            <a:ext cx="813816" cy="246888"/>
          </a:xfrm>
          <a:prstGeom prst="rect">
            <a:avLst/>
          </a:prstGeom>
          <a:solidFill>
            <a:srgbClr val="000000"/>
          </a:solidFill>
          <a:ln w="12700">
            <a:solidFill>
              <a:srgbClr val="000000"/>
            </a:solidFill>
            <a:prstDash val="solid"/>
          </a:ln>
        </p:spPr>
      </p:sp>
      <p:sp>
        <p:nvSpPr>
          <p:cNvPr id="10" name="Text 8"/>
          <p:cNvSpPr/>
          <p:nvPr/>
        </p:nvSpPr>
        <p:spPr>
          <a:xfrm>
            <a:off x="1353312"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半透明玻璃皮</a:t>
            </a:r>
            <a:endParaRPr lang="en-US" sz="750" dirty="0"/>
          </a:p>
        </p:txBody>
      </p:sp>
      <p:sp>
        <p:nvSpPr>
          <p:cNvPr id="11" name="Shape 9"/>
          <p:cNvSpPr/>
          <p:nvPr/>
        </p:nvSpPr>
        <p:spPr>
          <a:xfrm>
            <a:off x="2185416" y="1417320"/>
            <a:ext cx="731520" cy="246888"/>
          </a:xfrm>
          <a:prstGeom prst="rect">
            <a:avLst/>
          </a:prstGeom>
          <a:solidFill>
            <a:srgbClr val="000000"/>
          </a:solidFill>
          <a:ln w="12700">
            <a:solidFill>
              <a:srgbClr val="000000"/>
            </a:solidFill>
            <a:prstDash val="solid"/>
          </a:ln>
        </p:spPr>
      </p:sp>
      <p:sp>
        <p:nvSpPr>
          <p:cNvPr id="12" name="Text 10"/>
          <p:cNvSpPr/>
          <p:nvPr/>
        </p:nvSpPr>
        <p:spPr>
          <a:xfrm>
            <a:off x="2258568"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光漫射天花</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外皮由蝕刻玻璃板構成——半透明而非透明，白天過濾自然光形成柔和光暈，夜晚由內部燈光使建築如燈籠般發光。日光穿過外皮後進入夾層空間，再由展間的玻璃天花板向下漫射，形成均勻無影的展示光線。</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Zumthor 以最少的材料語彙達到最大的空間效果。光線、混凝土、玻璃三者的精確組合取代了所有裝飾。這是「少即是多」在光線設計上最完整的實踐。</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Kunsthaus Bregenz glass facade night glow Zumthor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02  光線作為設計媒介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02</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克利福史提爾美術館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Allied Works Architecture  ·  美國丹佛  ·  2011  ·  3,700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單一藝術家</a:t>
            </a:r>
            <a:endParaRPr lang="en-US" sz="750" dirty="0"/>
          </a:p>
        </p:txBody>
      </p:sp>
      <p:sp>
        <p:nvSpPr>
          <p:cNvPr id="9" name="Shape 7"/>
          <p:cNvSpPr/>
          <p:nvPr/>
        </p:nvSpPr>
        <p:spPr>
          <a:xfrm>
            <a:off x="1280160" y="1417320"/>
            <a:ext cx="918972" cy="246888"/>
          </a:xfrm>
          <a:prstGeom prst="rect">
            <a:avLst/>
          </a:prstGeom>
          <a:solidFill>
            <a:srgbClr val="000000"/>
          </a:solidFill>
          <a:ln w="12700">
            <a:solidFill>
              <a:srgbClr val="000000"/>
            </a:solidFill>
            <a:prstDash val="solid"/>
          </a:ln>
        </p:spPr>
      </p:sp>
      <p:sp>
        <p:nvSpPr>
          <p:cNvPr id="10" name="Text 8"/>
          <p:cNvSpPr/>
          <p:nvPr/>
        </p:nvSpPr>
        <p:spPr>
          <a:xfrm>
            <a:off x="1353312" y="1453896"/>
            <a:ext cx="845820"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肋形混凝土頂板</a:t>
            </a:r>
            <a:endParaRPr lang="en-US" sz="750" dirty="0"/>
          </a:p>
        </p:txBody>
      </p:sp>
      <p:sp>
        <p:nvSpPr>
          <p:cNvPr id="11" name="Shape 9"/>
          <p:cNvSpPr/>
          <p:nvPr/>
        </p:nvSpPr>
        <p:spPr>
          <a:xfrm>
            <a:off x="2290572" y="1417320"/>
            <a:ext cx="731520" cy="246888"/>
          </a:xfrm>
          <a:prstGeom prst="rect">
            <a:avLst/>
          </a:prstGeom>
          <a:solidFill>
            <a:srgbClr val="000000"/>
          </a:solidFill>
          <a:ln w="12700">
            <a:solidFill>
              <a:srgbClr val="000000"/>
            </a:solidFill>
            <a:prstDash val="solid"/>
          </a:ln>
        </p:spPr>
      </p:sp>
      <p:sp>
        <p:nvSpPr>
          <p:cNvPr id="12" name="Text 10"/>
          <p:cNvSpPr/>
          <p:nvPr/>
        </p:nvSpPr>
        <p:spPr>
          <a:xfrm>
            <a:off x="2363724"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漫射頂光</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65176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此館專為收藏並展示 Clyfford Still 一位藝術家的全部作品而設計。肋形混凝土屋頂板將自然光向下反射並均勻擴散，消除硬影與鏡面反射——這正是厚重肌理油畫的展示大敵。建築極度安靜，所有設計決策都服務於「畫作與觀者之間的相遇」。</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可應用的設計概念：當功能被精確定義，建築可以達到驚人的精準度。單一藝術家美術館是光線與空間設計的純粹測試場。</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03</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再利用與轉化</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既有構造物的空間潛力，以及改建作為設計策略</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Tate Modern  ·  Zeitz MOCAA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03  再利用與轉化</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03</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泰特現代美術館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Herzog &amp; de Meuron  ·  英國倫敦  ·  2000  ·  34,500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發電廠改建</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渦輪廳</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工業美學</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H&amp;dM 的介入策略極度克制——保留磚造外殼與工業邏輯，以一道新玻璃量體加冠屋頂作為唯一新增元素。渦輪廳（長 150m、高 35m）不被切割為展間，而是作為免費開放的公共內部街道，接納歷年最重要的委託裝置藝術。</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「保留」本身就是設計行為。既有構造物所蘊含的空間潛力往往超過新建所能達到的。渦輪廳的壓倒性尺度是任何新建美術館都難以複製的空間遺產。</a:t>
            </a:r>
            <a:endParaRPr lang="en-US" sz="1000" dirty="0"/>
          </a:p>
        </p:txBody>
      </p:sp>
      <p:sp>
        <p:nvSpPr>
          <p:cNvPr id="18" name="Shape 16"/>
          <p:cNvSpPr/>
          <p:nvPr/>
        </p:nvSpPr>
        <p:spPr>
          <a:xfrm>
            <a:off x="5120640" y="621792"/>
            <a:ext cx="3566160" cy="2011680"/>
          </a:xfrm>
          <a:prstGeom prst="rect">
            <a:avLst/>
          </a:prstGeom>
          <a:solidFill>
            <a:srgbClr val="F2F2F2"/>
          </a:solidFill>
          <a:ln w="12700">
            <a:solidFill>
              <a:srgbClr val="CCCCCC"/>
            </a:solidFill>
            <a:prstDash val="solid"/>
          </a:ln>
        </p:spPr>
      </p:sp>
      <p:sp>
        <p:nvSpPr>
          <p:cNvPr id="19" name="Text 17"/>
          <p:cNvSpPr/>
          <p:nvPr/>
        </p:nvSpPr>
        <p:spPr>
          <a:xfrm>
            <a:off x="5120640" y="137160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162763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Tate Modern Turbine Hall interior scale</a:t>
            </a:r>
            <a:endParaRPr lang="en-US" sz="800" dirty="0"/>
          </a:p>
        </p:txBody>
      </p:sp>
      <p:sp>
        <p:nvSpPr>
          <p:cNvPr id="21" name="Shape 19"/>
          <p:cNvSpPr/>
          <p:nvPr/>
        </p:nvSpPr>
        <p:spPr>
          <a:xfrm>
            <a:off x="5120640" y="2743200"/>
            <a:ext cx="3566160" cy="2103120"/>
          </a:xfrm>
          <a:prstGeom prst="rect">
            <a:avLst/>
          </a:prstGeom>
          <a:solidFill>
            <a:srgbClr val="F2F2F2"/>
          </a:solidFill>
          <a:ln w="12700">
            <a:solidFill>
              <a:srgbClr val="CCCCCC"/>
            </a:solidFill>
            <a:prstDash val="solid"/>
          </a:ln>
        </p:spPr>
      </p:sp>
      <p:sp>
        <p:nvSpPr>
          <p:cNvPr id="22" name="Text 20"/>
          <p:cNvSpPr/>
          <p:nvPr/>
        </p:nvSpPr>
        <p:spPr>
          <a:xfrm>
            <a:off x="5120640" y="3538728"/>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3" name="Text 21"/>
          <p:cNvSpPr/>
          <p:nvPr/>
        </p:nvSpPr>
        <p:spPr>
          <a:xfrm>
            <a:off x="5212080" y="3794760"/>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Tate Modern exterior Bankside Power Station Thames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03  再利用與轉化</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03</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蔡茨非洲當代藝術館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Heatherwick Studio  ·  南非開普敦  ·  2017  ·  9,500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穀倉改建</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雕刻中庭</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圓柱幾何</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Heatherwick 將一粒穀物的截面幾何放大，並以此形狀切入 1920 年代的圓筒穀倉群，「雕刻」出高達 57m 的中央中庭。每間展廊是被切削後剩餘的圓筒空間。設計的核心動作是「挖去」而非「增建」。</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既有結構藏有等待被發掘的空間。設計行為有時是考古學式的——找出已經存在的幾何邏輯，再將其顯現。「減法」是一種完整的建築策略。</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Zeitz MOCAA atrium grain silo carved interior</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04</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形式語言與表皮系統</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外皮或結構系統如何同時產生形式、空間邏輯與建築識別</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MAXXI  ·  The Broad  ·  De Young Museum  ·  National Museum of Qatar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04  形式語言與表皮系統</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04</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82296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MAXXI 國立二十一世紀藝術館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Zaha Hadid  ·  義大利羅馬  ·  2010  ·  27,000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流動動線</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交疊結構帶</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參數形體</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MAXXI 重新定義美術館的空間邏輯——以「動線即空間」取代傳統展廳序列。多條混凝土結構帶相互交疊，形成橋廊、懸挑與多重視線，訪客在館內永遠無法確定自己的位置，卻始終處於空間事件之中。</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動線不是中性的基礎設施，它可以是主要的建築體驗。設計動線路徑就是在設計空間敘事。</a:t>
            </a:r>
            <a:endParaRPr lang="en-US" sz="1000" dirty="0"/>
          </a:p>
        </p:txBody>
      </p:sp>
      <p:sp>
        <p:nvSpPr>
          <p:cNvPr id="18" name="Shape 16"/>
          <p:cNvSpPr/>
          <p:nvPr/>
        </p:nvSpPr>
        <p:spPr>
          <a:xfrm>
            <a:off x="5120640" y="621792"/>
            <a:ext cx="3566160" cy="2011680"/>
          </a:xfrm>
          <a:prstGeom prst="rect">
            <a:avLst/>
          </a:prstGeom>
          <a:solidFill>
            <a:srgbClr val="F2F2F2"/>
          </a:solidFill>
          <a:ln w="12700">
            <a:solidFill>
              <a:srgbClr val="CCCCCC"/>
            </a:solidFill>
            <a:prstDash val="solid"/>
          </a:ln>
        </p:spPr>
      </p:sp>
      <p:sp>
        <p:nvSpPr>
          <p:cNvPr id="19" name="Text 17"/>
          <p:cNvSpPr/>
          <p:nvPr/>
        </p:nvSpPr>
        <p:spPr>
          <a:xfrm>
            <a:off x="5120640" y="137160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162763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MAXXI Rome Zaha Hadid interior circulation concrete</a:t>
            </a:r>
            <a:endParaRPr lang="en-US" sz="800" dirty="0"/>
          </a:p>
        </p:txBody>
      </p:sp>
      <p:sp>
        <p:nvSpPr>
          <p:cNvPr id="21" name="Shape 19"/>
          <p:cNvSpPr/>
          <p:nvPr/>
        </p:nvSpPr>
        <p:spPr>
          <a:xfrm>
            <a:off x="5120640" y="2743200"/>
            <a:ext cx="3566160" cy="2103120"/>
          </a:xfrm>
          <a:prstGeom prst="rect">
            <a:avLst/>
          </a:prstGeom>
          <a:solidFill>
            <a:srgbClr val="F2F2F2"/>
          </a:solidFill>
          <a:ln w="12700">
            <a:solidFill>
              <a:srgbClr val="CCCCCC"/>
            </a:solidFill>
            <a:prstDash val="solid"/>
          </a:ln>
        </p:spPr>
      </p:sp>
      <p:sp>
        <p:nvSpPr>
          <p:cNvPr id="22" name="Text 20"/>
          <p:cNvSpPr/>
          <p:nvPr/>
        </p:nvSpPr>
        <p:spPr>
          <a:xfrm>
            <a:off x="5120640" y="3538728"/>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3" name="Text 21"/>
          <p:cNvSpPr/>
          <p:nvPr/>
        </p:nvSpPr>
        <p:spPr>
          <a:xfrm>
            <a:off x="5212080" y="3794760"/>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MAXXI Rome exterior aerial overlapping bands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04  形式語言與表皮系統</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04</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The Broad</a:t>
            </a:r>
            <a:endParaRPr lang="en-US" sz="1800" dirty="0"/>
          </a:p>
        </p:txBody>
      </p:sp>
      <p:sp>
        <p:nvSpPr>
          <p:cNvPr id="6" name="Text 4"/>
          <p:cNvSpPr/>
          <p:nvPr/>
        </p:nvSpPr>
        <p:spPr>
          <a:xfrm>
            <a:off x="457200" y="1078992"/>
            <a:ext cx="64008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Diller Scofidio + Renfro  ·  美國洛杉磯  ·  2015  ·  5,110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面紗與金庫</a:t>
            </a:r>
            <a:endParaRPr lang="en-US" sz="750" dirty="0"/>
          </a:p>
        </p:txBody>
      </p:sp>
      <p:sp>
        <p:nvSpPr>
          <p:cNvPr id="9" name="Shape 7"/>
          <p:cNvSpPr/>
          <p:nvPr/>
        </p:nvSpPr>
        <p:spPr>
          <a:xfrm>
            <a:off x="1280160" y="1417320"/>
            <a:ext cx="813816" cy="246888"/>
          </a:xfrm>
          <a:prstGeom prst="rect">
            <a:avLst/>
          </a:prstGeom>
          <a:solidFill>
            <a:srgbClr val="000000"/>
          </a:solidFill>
          <a:ln w="12700">
            <a:solidFill>
              <a:srgbClr val="000000"/>
            </a:solidFill>
            <a:prstDash val="solid"/>
          </a:ln>
        </p:spPr>
      </p:sp>
      <p:sp>
        <p:nvSpPr>
          <p:cNvPr id="10" name="Text 8"/>
          <p:cNvSpPr/>
          <p:nvPr/>
        </p:nvSpPr>
        <p:spPr>
          <a:xfrm>
            <a:off x="1353312"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蜂巢混凝土皮</a:t>
            </a:r>
            <a:endParaRPr lang="en-US" sz="750" dirty="0"/>
          </a:p>
        </p:txBody>
      </p:sp>
      <p:sp>
        <p:nvSpPr>
          <p:cNvPr id="11" name="Shape 9"/>
          <p:cNvSpPr/>
          <p:nvPr/>
        </p:nvSpPr>
        <p:spPr>
          <a:xfrm>
            <a:off x="2185416" y="1417320"/>
            <a:ext cx="731520" cy="246888"/>
          </a:xfrm>
          <a:prstGeom prst="rect">
            <a:avLst/>
          </a:prstGeom>
          <a:solidFill>
            <a:srgbClr val="000000"/>
          </a:solidFill>
          <a:ln w="12700">
            <a:solidFill>
              <a:srgbClr val="000000"/>
            </a:solidFill>
            <a:prstDash val="solid"/>
          </a:ln>
        </p:spPr>
      </p:sp>
      <p:sp>
        <p:nvSpPr>
          <p:cNvPr id="12" name="Text 10"/>
          <p:cNvSpPr/>
          <p:nvPr/>
        </p:nvSpPr>
        <p:spPr>
          <a:xfrm>
            <a:off x="2258568"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頂層漫射光</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74320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DS+R 以一個概念組織整棟建築：「面紗」（Veil）包覆「金庫」（Vault）。金庫是頂層主展廳，蜂巢狀混凝土天花板將自然光均勻擴散；面紗是玻璃纖維強化混凝土外皮，從金庫邊緣垂落至地面，形成底層挑高大廳。單一概念同時產生結構、光線、立面與空間組織。</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可應用的設計概念：一個強而有力的概念（面紗／金庫）可以同時回答結構、光線品質、外觀立面與空間序列的所有問題。概念的力量在於其生成性。</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04  形式語言與表皮系統</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04</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笛揚美術館</a:t>
            </a:r>
            <a:endParaRPr lang="en-US" sz="1800" dirty="0"/>
          </a:p>
        </p:txBody>
      </p:sp>
      <p:sp>
        <p:nvSpPr>
          <p:cNvPr id="6" name="Text 4"/>
          <p:cNvSpPr/>
          <p:nvPr/>
        </p:nvSpPr>
        <p:spPr>
          <a:xfrm>
            <a:off x="457200" y="1078992"/>
            <a:ext cx="64008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Herzog &amp; de Meuron  ·  美國舊金山  ·  2005  ·  29,400 m²</a:t>
            </a:r>
            <a:endParaRPr lang="en-US" sz="900" dirty="0"/>
          </a:p>
        </p:txBody>
      </p:sp>
      <p:sp>
        <p:nvSpPr>
          <p:cNvPr id="7" name="Shape 5"/>
          <p:cNvSpPr/>
          <p:nvPr/>
        </p:nvSpPr>
        <p:spPr>
          <a:xfrm>
            <a:off x="457200" y="1417320"/>
            <a:ext cx="813816" cy="246888"/>
          </a:xfrm>
          <a:prstGeom prst="rect">
            <a:avLst/>
          </a:prstGeom>
          <a:solidFill>
            <a:srgbClr val="000000"/>
          </a:solidFill>
          <a:ln w="12700">
            <a:solidFill>
              <a:srgbClr val="000000"/>
            </a:solidFill>
            <a:prstDash val="solid"/>
          </a:ln>
        </p:spPr>
      </p:sp>
      <p:sp>
        <p:nvSpPr>
          <p:cNvPr id="8" name="Text 6"/>
          <p:cNvSpPr/>
          <p:nvPr/>
        </p:nvSpPr>
        <p:spPr>
          <a:xfrm>
            <a:off x="530352"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穿孔銅板外皮</a:t>
            </a:r>
            <a:endParaRPr lang="en-US" sz="750" dirty="0"/>
          </a:p>
        </p:txBody>
      </p:sp>
      <p:sp>
        <p:nvSpPr>
          <p:cNvPr id="9" name="Shape 7"/>
          <p:cNvSpPr/>
          <p:nvPr/>
        </p:nvSpPr>
        <p:spPr>
          <a:xfrm>
            <a:off x="1362456" y="1417320"/>
            <a:ext cx="731520" cy="246888"/>
          </a:xfrm>
          <a:prstGeom prst="rect">
            <a:avLst/>
          </a:prstGeom>
          <a:solidFill>
            <a:srgbClr val="000000"/>
          </a:solidFill>
          <a:ln w="12700">
            <a:solidFill>
              <a:srgbClr val="000000"/>
            </a:solidFill>
            <a:prstDash val="solid"/>
          </a:ln>
        </p:spPr>
      </p:sp>
      <p:sp>
        <p:nvSpPr>
          <p:cNvPr id="10" name="Text 8"/>
          <p:cNvSpPr/>
          <p:nvPr/>
        </p:nvSpPr>
        <p:spPr>
          <a:xfrm>
            <a:off x="1435608"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氧化時間性</a:t>
            </a:r>
            <a:endParaRPr lang="en-US" sz="750" dirty="0"/>
          </a:p>
        </p:txBody>
      </p:sp>
      <p:sp>
        <p:nvSpPr>
          <p:cNvPr id="11" name="Shape 9"/>
          <p:cNvSpPr/>
          <p:nvPr/>
        </p:nvSpPr>
        <p:spPr>
          <a:xfrm>
            <a:off x="2185416" y="1417320"/>
            <a:ext cx="731520" cy="246888"/>
          </a:xfrm>
          <a:prstGeom prst="rect">
            <a:avLst/>
          </a:prstGeom>
          <a:solidFill>
            <a:srgbClr val="000000"/>
          </a:solidFill>
          <a:ln w="12700">
            <a:solidFill>
              <a:srgbClr val="000000"/>
            </a:solidFill>
            <a:prstDash val="solid"/>
          </a:ln>
        </p:spPr>
      </p:sp>
      <p:sp>
        <p:nvSpPr>
          <p:cNvPr id="12" name="Text 10"/>
          <p:cNvSpPr/>
          <p:nvPr/>
        </p:nvSpPr>
        <p:spPr>
          <a:xfrm>
            <a:off x="2258568"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公園融合</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95 萬片穿孔銅板覆蓋全棟外牆，孔洞圖案取自公園樹冠的攝影影像，在室內製造樹蔭光影效果。關鍵在於材料的時間維度：銅板在開幕時呈橙金色，數十年後氧化為與公園植被相近的褐綠色。</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材料可以承載時間維度。設計「老化」與「風化」——允許建築隨時間轉變——是一種主動的設計策略，而非對劣化的妥協。</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De Young Museum copper facade perforated Herzog de Meuron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04  形式語言與表皮系統</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04</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卡達國家博物館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Jean Nouvel  ·  卡達多哈  ·  2019  ·  52,000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沙漠玫瑰</a:t>
            </a:r>
            <a:endParaRPr lang="en-US" sz="750" dirty="0"/>
          </a:p>
        </p:txBody>
      </p:sp>
      <p:sp>
        <p:nvSpPr>
          <p:cNvPr id="9" name="Shape 7"/>
          <p:cNvSpPr/>
          <p:nvPr/>
        </p:nvSpPr>
        <p:spPr>
          <a:xfrm>
            <a:off x="1280160" y="1417320"/>
            <a:ext cx="813816" cy="246888"/>
          </a:xfrm>
          <a:prstGeom prst="rect">
            <a:avLst/>
          </a:prstGeom>
          <a:solidFill>
            <a:srgbClr val="000000"/>
          </a:solidFill>
          <a:ln w="12700">
            <a:solidFill>
              <a:srgbClr val="000000"/>
            </a:solidFill>
            <a:prstDash val="solid"/>
          </a:ln>
        </p:spPr>
      </p:sp>
      <p:sp>
        <p:nvSpPr>
          <p:cNvPr id="10" name="Text 8"/>
          <p:cNvSpPr/>
          <p:nvPr/>
        </p:nvSpPr>
        <p:spPr>
          <a:xfrm>
            <a:off x="1353312"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交疊圓盤系統</a:t>
            </a:r>
            <a:endParaRPr lang="en-US" sz="750" dirty="0"/>
          </a:p>
        </p:txBody>
      </p:sp>
      <p:sp>
        <p:nvSpPr>
          <p:cNvPr id="11" name="Shape 9"/>
          <p:cNvSpPr/>
          <p:nvPr/>
        </p:nvSpPr>
        <p:spPr>
          <a:xfrm>
            <a:off x="2185416" y="1417320"/>
            <a:ext cx="813816" cy="246888"/>
          </a:xfrm>
          <a:prstGeom prst="rect">
            <a:avLst/>
          </a:prstGeom>
          <a:solidFill>
            <a:srgbClr val="000000"/>
          </a:solidFill>
          <a:ln w="12700">
            <a:solidFill>
              <a:srgbClr val="000000"/>
            </a:solidFill>
            <a:prstDash val="solid"/>
          </a:ln>
        </p:spPr>
      </p:sp>
      <p:sp>
        <p:nvSpPr>
          <p:cNvPr id="12" name="Text 10"/>
          <p:cNvSpPr/>
          <p:nvPr/>
        </p:nvSpPr>
        <p:spPr>
          <a:xfrm>
            <a:off x="2258568"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自然地質形態</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74320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Nouvel 以卡達沙漠中的石膏結晶——「沙漠玫瑰」——作為生成邏輯。建築由 539 片直徑與角度各異的圓形碟片相互交疊構成，形成懸挑、斜面、陰影豐富的外部環境。「沙漠玫瑰」不只是象徵，而是設計規則系統：所有元素（結構、立面、室內天花）皆由圓盤幾何衍生。</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可應用的設計概念：自然現象可以是生成性的設計邏輯，而不只是靈感來源。當一個自然規則被轉化為幾何系統，便能產生整棟建築所有元素的統一語言。</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05</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建築嵌入地景</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建築與基地、地形、自然的對話關係</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Benesse House  ·  MAAT Lisbon  ·  Louvre Pyramid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05  建築嵌入地景</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05</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直島 Benesse House</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安藤忠雄  ·  日本直島  ·  1992</a:t>
            </a:r>
            <a:endParaRPr lang="en-US" sz="900" dirty="0"/>
          </a:p>
        </p:txBody>
      </p:sp>
      <p:sp>
        <p:nvSpPr>
          <p:cNvPr id="7" name="Shape 5"/>
          <p:cNvSpPr/>
          <p:nvPr/>
        </p:nvSpPr>
        <p:spPr>
          <a:xfrm>
            <a:off x="457200" y="1417320"/>
            <a:ext cx="1024128" cy="246888"/>
          </a:xfrm>
          <a:prstGeom prst="rect">
            <a:avLst/>
          </a:prstGeom>
          <a:solidFill>
            <a:srgbClr val="000000"/>
          </a:solidFill>
          <a:ln w="12700">
            <a:solidFill>
              <a:srgbClr val="000000"/>
            </a:solidFill>
            <a:prstDash val="solid"/>
          </a:ln>
        </p:spPr>
      </p:sp>
      <p:sp>
        <p:nvSpPr>
          <p:cNvPr id="8" name="Text 6"/>
          <p:cNvSpPr/>
          <p:nvPr/>
        </p:nvSpPr>
        <p:spPr>
          <a:xfrm>
            <a:off x="530352" y="1453896"/>
            <a:ext cx="950976"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美術館 × 旅館</a:t>
            </a:r>
            <a:endParaRPr lang="en-US" sz="750" dirty="0"/>
          </a:p>
        </p:txBody>
      </p:sp>
      <p:sp>
        <p:nvSpPr>
          <p:cNvPr id="9" name="Shape 7"/>
          <p:cNvSpPr/>
          <p:nvPr/>
        </p:nvSpPr>
        <p:spPr>
          <a:xfrm>
            <a:off x="1572768" y="1417320"/>
            <a:ext cx="918972" cy="246888"/>
          </a:xfrm>
          <a:prstGeom prst="rect">
            <a:avLst/>
          </a:prstGeom>
          <a:solidFill>
            <a:srgbClr val="000000"/>
          </a:solidFill>
          <a:ln w="12700">
            <a:solidFill>
              <a:srgbClr val="000000"/>
            </a:solidFill>
            <a:prstDash val="solid"/>
          </a:ln>
        </p:spPr>
      </p:sp>
      <p:sp>
        <p:nvSpPr>
          <p:cNvPr id="10" name="Text 8"/>
          <p:cNvSpPr/>
          <p:nvPr/>
        </p:nvSpPr>
        <p:spPr>
          <a:xfrm>
            <a:off x="1645920" y="1453896"/>
            <a:ext cx="845820"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藝術 × 地景</a:t>
            </a:r>
            <a:endParaRPr lang="en-US" sz="750" dirty="0"/>
          </a:p>
        </p:txBody>
      </p:sp>
      <p:sp>
        <p:nvSpPr>
          <p:cNvPr id="11" name="Shape 9"/>
          <p:cNvSpPr/>
          <p:nvPr/>
        </p:nvSpPr>
        <p:spPr>
          <a:xfrm>
            <a:off x="258318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65633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場所特定性</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74320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安藤的混凝土館舍依山就勢，每個展間被刻意校準以框取特定的瀨戶內海視野與光線方向。作品不在中性白盒子中，而是在與特定材質、光線、景色對話的空間中被觀看。直島計畫啟動了一個將整座廢棄工業島嶼轉化為藝術目的地的長期文化策略。</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可應用的設計概念：美術館無需是中性容器。當建築被精確校準至特定地景、時段與材料條件，「場所」本身就成為策展策略的一部分。</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05  建築嵌入地景</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05</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MAAT 藝術建築科技館</a:t>
            </a:r>
            <a:endParaRPr lang="en-US" sz="1800" dirty="0"/>
          </a:p>
        </p:txBody>
      </p:sp>
      <p:sp>
        <p:nvSpPr>
          <p:cNvPr id="6" name="Text 4"/>
          <p:cNvSpPr/>
          <p:nvPr/>
        </p:nvSpPr>
        <p:spPr>
          <a:xfrm>
            <a:off x="457200" y="1078992"/>
            <a:ext cx="73152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AL_A (Amanda Levete)  ·  葡萄牙里斯本  ·  2016  ·  7,630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屋頂即廣場</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水岸地形</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波浪磁磚</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MAAT 最重要的建築貢獻是其屋頂。波浪狀白色磁磚面層成為可供步行的公共地景，連結街道高程與河岸步道，解決了里斯本塔霍河岸的地形落差。建築不以立面示人，而以「可踩踏的表面」示人。</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在水岸或地形複雜的基地，屋頂往往是最重要的立面。將屋頂設計為公共地景，可使建築比任何正面立面更有城市貢獻。</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MAAT Lisbon rooftop walkable ceramic tiles waterfront</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05  建築嵌入地景</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05</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羅浮宮玻璃金字塔</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I.M. Pei  ·  法國巴黎  ·  1989</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歷史對話</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純幾何</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地下擴建</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00584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Pei 的玻璃金字塔拒絕模仿羅浮宮宮殿的風格，選擇以純粹幾何、近乎透明的形體插入歷史中庭。新建物的材料謙遜（玻璃幾乎消隱）使歷史建築得以維持主角地位，而新入口的功能則完全轉入地下。</a:t>
            </a:r>
            <a:endParaRPr lang="en-US" sz="1000" dirty="0"/>
          </a:p>
        </p:txBody>
      </p:sp>
      <p:sp>
        <p:nvSpPr>
          <p:cNvPr id="16" name="Text 14"/>
          <p:cNvSpPr/>
          <p:nvPr/>
        </p:nvSpPr>
        <p:spPr>
          <a:xfrm>
            <a:off x="457200" y="320040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474720"/>
            <a:ext cx="4389120" cy="137160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新舊並置不需要妥協，也不需要衝突。當新建物幾何清晰、材料透明，「對比」本身就是一種對歷史的尊重。</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Louvre Pyramid IM Pei glass courtyard historic</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1828800" cy="1097280"/>
          </a:xfrm>
          <a:prstGeom prst="rect">
            <a:avLst/>
          </a:prstGeom>
          <a:noFill/>
          <a:ln/>
        </p:spPr>
        <p:txBody>
          <a:bodyPr wrap="square" rtlCol="0" anchor="ctr"/>
          <a:lstStyle/>
          <a:p>
            <a:pPr algn="l" indent="0" marL="0">
              <a:buNone/>
            </a:pPr>
            <a:r>
              <a:rPr lang="en-US" sz="7200" b="1" dirty="0">
                <a:solidFill>
                  <a:srgbClr val="222222"/>
                </a:solidFill>
                <a:latin typeface="Arial" pitchFamily="34" charset="0"/>
                <a:ea typeface="Arial" pitchFamily="34" charset="-122"/>
                <a:cs typeface="Arial" pitchFamily="34" charset="-120"/>
              </a:rPr>
              <a:t>06</a:t>
            </a:r>
            <a:endParaRPr lang="en-US" sz="7200" dirty="0"/>
          </a:p>
        </p:txBody>
      </p:sp>
      <p:sp>
        <p:nvSpPr>
          <p:cNvPr id="3" name="Text 1"/>
          <p:cNvSpPr/>
          <p:nvPr/>
        </p:nvSpPr>
        <p:spPr>
          <a:xfrm>
            <a:off x="457200" y="1600200"/>
            <a:ext cx="8229600" cy="777240"/>
          </a:xfrm>
          <a:prstGeom prst="rect">
            <a:avLst/>
          </a:prstGeom>
          <a:noFill/>
          <a:ln/>
        </p:spPr>
        <p:txBody>
          <a:bodyPr wrap="square" rtlCol="0" anchor="ctr"/>
          <a:lstStyle/>
          <a:p>
            <a:pPr algn="l" indent="0" marL="0">
              <a:buNone/>
            </a:pPr>
            <a:r>
              <a:rPr lang="en-US" sz="3400" b="1" spc="400" kern="0" dirty="0">
                <a:solidFill>
                  <a:srgbClr val="FFFFFF"/>
                </a:solidFill>
                <a:latin typeface="Arial" pitchFamily="34" charset="0"/>
                <a:ea typeface="Arial" pitchFamily="34" charset="-122"/>
                <a:cs typeface="Arial" pitchFamily="34" charset="-120"/>
              </a:rPr>
              <a:t>空間作為敘事</a:t>
            </a:r>
            <a:endParaRPr lang="en-US" sz="3400" dirty="0"/>
          </a:p>
        </p:txBody>
      </p:sp>
      <p:sp>
        <p:nvSpPr>
          <p:cNvPr id="4" name="Text 2"/>
          <p:cNvSpPr/>
          <p:nvPr/>
        </p:nvSpPr>
        <p:spPr>
          <a:xfrm>
            <a:off x="457200" y="2423160"/>
            <a:ext cx="8229600" cy="411480"/>
          </a:xfrm>
          <a:prstGeom prst="rect">
            <a:avLst/>
          </a:prstGeom>
          <a:noFill/>
          <a:ln/>
        </p:spPr>
        <p:txBody>
          <a:bodyPr wrap="square" rtlCol="0" anchor="ctr"/>
          <a:lstStyle/>
          <a:p>
            <a:pPr algn="l" indent="0" marL="0">
              <a:buNone/>
            </a:pPr>
            <a:r>
              <a:rPr lang="en-US" sz="1200" spc="100" kern="0" dirty="0">
                <a:solidFill>
                  <a:srgbClr val="666666"/>
                </a:solidFill>
                <a:latin typeface="Arial" pitchFamily="34" charset="0"/>
                <a:ea typeface="Arial" pitchFamily="34" charset="-122"/>
                <a:cs typeface="Arial" pitchFamily="34" charset="-120"/>
              </a:rPr>
              <a:t>空間序列或形式本身承載概念、記憶或場所意義</a:t>
            </a:r>
            <a:endParaRPr lang="en-US" sz="1200" dirty="0"/>
          </a:p>
        </p:txBody>
      </p:sp>
      <p:sp>
        <p:nvSpPr>
          <p:cNvPr id="5" name="Shape 3"/>
          <p:cNvSpPr/>
          <p:nvPr/>
        </p:nvSpPr>
        <p:spPr>
          <a:xfrm>
            <a:off x="457200" y="2971800"/>
            <a:ext cx="8229600" cy="0"/>
          </a:xfrm>
          <a:prstGeom prst="line">
            <a:avLst/>
          </a:prstGeom>
          <a:noFill/>
          <a:ln w="6350">
            <a:solidFill>
              <a:srgbClr val="333333"/>
            </a:solidFill>
            <a:prstDash val="solid"/>
          </a:ln>
        </p:spPr>
      </p:sp>
      <p:sp>
        <p:nvSpPr>
          <p:cNvPr id="6" name="Text 4"/>
          <p:cNvSpPr/>
          <p:nvPr/>
        </p:nvSpPr>
        <p:spPr>
          <a:xfrm>
            <a:off x="457200" y="3154680"/>
            <a:ext cx="8229600" cy="320040"/>
          </a:xfrm>
          <a:prstGeom prst="rect">
            <a:avLst/>
          </a:prstGeom>
          <a:noFill/>
          <a:ln/>
        </p:spPr>
        <p:txBody>
          <a:bodyPr wrap="square" rtlCol="0" anchor="ctr"/>
          <a:lstStyle/>
          <a:p>
            <a:pPr algn="l" indent="0" marL="0">
              <a:buNone/>
            </a:pPr>
            <a:r>
              <a:rPr lang="en-US" sz="900" spc="150" kern="0" dirty="0">
                <a:solidFill>
                  <a:srgbClr val="555555"/>
                </a:solidFill>
                <a:latin typeface="Arial" pitchFamily="34" charset="0"/>
                <a:ea typeface="Arial" pitchFamily="34" charset="-122"/>
                <a:cs typeface="Arial" pitchFamily="34" charset="-120"/>
              </a:rPr>
              <a:t>Jewish Museum Berlin  ·  Musée des Confluences  ·  Chimei Museum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06  空間作為敘事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06</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柏林猶太博物館</a:t>
            </a:r>
            <a:endParaRPr lang="en-US" sz="1800" dirty="0"/>
          </a:p>
        </p:txBody>
      </p:sp>
      <p:sp>
        <p:nvSpPr>
          <p:cNvPr id="6" name="Text 4"/>
          <p:cNvSpPr/>
          <p:nvPr/>
        </p:nvSpPr>
        <p:spPr>
          <a:xfrm>
            <a:off x="457200" y="1078992"/>
            <a:ext cx="64008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Daniel Libeskind  ·  德國柏林  ·  2001  ·  14,000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虛空間</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鋸齒形平面</a:t>
            </a:r>
            <a:endParaRPr lang="en-US" sz="750" dirty="0"/>
          </a:p>
        </p:txBody>
      </p:sp>
      <p:sp>
        <p:nvSpPr>
          <p:cNvPr id="11" name="Shape 9"/>
          <p:cNvSpPr/>
          <p:nvPr/>
        </p:nvSpPr>
        <p:spPr>
          <a:xfrm>
            <a:off x="2103120" y="1417320"/>
            <a:ext cx="731520" cy="246888"/>
          </a:xfrm>
          <a:prstGeom prst="rect">
            <a:avLst/>
          </a:prstGeom>
          <a:solidFill>
            <a:srgbClr val="000000"/>
          </a:solidFill>
          <a:ln w="12700">
            <a:solidFill>
              <a:srgbClr val="000000"/>
            </a:solidFill>
            <a:prstDash val="solid"/>
          </a:ln>
        </p:spPr>
      </p:sp>
      <p:sp>
        <p:nvSpPr>
          <p:cNvPr id="12" name="Text 10"/>
          <p:cNvSpPr/>
          <p:nvPr/>
        </p:nvSpPr>
        <p:spPr>
          <a:xfrm>
            <a:off x="217627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敘事動線</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18872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Libeskind 以變形的大衛之星連接柏林猶太社區昔日住址，產生鋸齒形平面。貫穿全館的六條「虛空間」（Void）——高聳、空曠、無暖氣的混凝土井——不被納入展廳，而是以「缺席」呈現歷史中的消逝。訪客在進入展覽之前，必須先穿越「流亡軸」、「大屠殺軸」、「延續軸」三條動線。</a:t>
            </a:r>
            <a:endParaRPr lang="en-US" sz="1000" dirty="0"/>
          </a:p>
        </p:txBody>
      </p:sp>
      <p:sp>
        <p:nvSpPr>
          <p:cNvPr id="16" name="Text 14"/>
          <p:cNvSpPr/>
          <p:nvPr/>
        </p:nvSpPr>
        <p:spPr>
          <a:xfrm>
            <a:off x="457200" y="338328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657600"/>
            <a:ext cx="4389120" cy="118872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建築可以在不使用圖像或文字的情況下承載概念內容。空間序列本身就是論述。「缺席」與「空」可以是空間語言中最有力的元素。</a:t>
            </a:r>
            <a:endParaRPr lang="en-US" sz="1000" dirty="0"/>
          </a:p>
        </p:txBody>
      </p:sp>
      <p:sp>
        <p:nvSpPr>
          <p:cNvPr id="18" name="Shape 16"/>
          <p:cNvSpPr/>
          <p:nvPr/>
        </p:nvSpPr>
        <p:spPr>
          <a:xfrm>
            <a:off x="5120640" y="621792"/>
            <a:ext cx="3566160" cy="2011680"/>
          </a:xfrm>
          <a:prstGeom prst="rect">
            <a:avLst/>
          </a:prstGeom>
          <a:solidFill>
            <a:srgbClr val="F2F2F2"/>
          </a:solidFill>
          <a:ln w="12700">
            <a:solidFill>
              <a:srgbClr val="CCCCCC"/>
            </a:solidFill>
            <a:prstDash val="solid"/>
          </a:ln>
        </p:spPr>
      </p:sp>
      <p:sp>
        <p:nvSpPr>
          <p:cNvPr id="19" name="Text 17"/>
          <p:cNvSpPr/>
          <p:nvPr/>
        </p:nvSpPr>
        <p:spPr>
          <a:xfrm>
            <a:off x="5120640" y="137160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162763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Jewish Museum Berlin void interior Libeskind</a:t>
            </a:r>
            <a:endParaRPr lang="en-US" sz="800" dirty="0"/>
          </a:p>
        </p:txBody>
      </p:sp>
      <p:sp>
        <p:nvSpPr>
          <p:cNvPr id="21" name="Shape 19"/>
          <p:cNvSpPr/>
          <p:nvPr/>
        </p:nvSpPr>
        <p:spPr>
          <a:xfrm>
            <a:off x="5120640" y="2743200"/>
            <a:ext cx="3566160" cy="2103120"/>
          </a:xfrm>
          <a:prstGeom prst="rect">
            <a:avLst/>
          </a:prstGeom>
          <a:solidFill>
            <a:srgbClr val="F2F2F2"/>
          </a:solidFill>
          <a:ln w="12700">
            <a:solidFill>
              <a:srgbClr val="CCCCCC"/>
            </a:solidFill>
            <a:prstDash val="solid"/>
          </a:ln>
        </p:spPr>
      </p:sp>
      <p:sp>
        <p:nvSpPr>
          <p:cNvPr id="22" name="Text 20"/>
          <p:cNvSpPr/>
          <p:nvPr/>
        </p:nvSpPr>
        <p:spPr>
          <a:xfrm>
            <a:off x="5120640" y="3538728"/>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3" name="Text 21"/>
          <p:cNvSpPr/>
          <p:nvPr/>
        </p:nvSpPr>
        <p:spPr>
          <a:xfrm>
            <a:off x="5212080" y="3794760"/>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Jewish Museum Berlin exterior zinc facade zigzag</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06  空間作為敘事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06</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匯流博物館</a:t>
            </a:r>
            <a:endParaRPr lang="en-US" sz="1800" dirty="0"/>
          </a:p>
        </p:txBody>
      </p:sp>
      <p:sp>
        <p:nvSpPr>
          <p:cNvPr id="6" name="Text 4"/>
          <p:cNvSpPr/>
          <p:nvPr/>
        </p:nvSpPr>
        <p:spPr>
          <a:xfrm>
            <a:off x="457200" y="1078992"/>
            <a:ext cx="64008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Coop Himmelb(l)au  ·  法國里昂  ·  2014  ·  22,000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水晶量體</a:t>
            </a:r>
            <a:endParaRPr lang="en-US" sz="750" dirty="0"/>
          </a:p>
        </p:txBody>
      </p:sp>
      <p:sp>
        <p:nvSpPr>
          <p:cNvPr id="9" name="Shape 7"/>
          <p:cNvSpPr/>
          <p:nvPr/>
        </p:nvSpPr>
        <p:spPr>
          <a:xfrm>
            <a:off x="1280160" y="1417320"/>
            <a:ext cx="1024128" cy="246888"/>
          </a:xfrm>
          <a:prstGeom prst="rect">
            <a:avLst/>
          </a:prstGeom>
          <a:solidFill>
            <a:srgbClr val="000000"/>
          </a:solidFill>
          <a:ln w="12700">
            <a:solidFill>
              <a:srgbClr val="000000"/>
            </a:solidFill>
            <a:prstDash val="solid"/>
          </a:ln>
        </p:spPr>
      </p:sp>
      <p:sp>
        <p:nvSpPr>
          <p:cNvPr id="10" name="Text 8"/>
          <p:cNvSpPr/>
          <p:nvPr/>
        </p:nvSpPr>
        <p:spPr>
          <a:xfrm>
            <a:off x="1353312" y="1453896"/>
            <a:ext cx="950976"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基座 + 懸浮體</a:t>
            </a:r>
            <a:endParaRPr lang="en-US" sz="750" dirty="0"/>
          </a:p>
        </p:txBody>
      </p:sp>
      <p:sp>
        <p:nvSpPr>
          <p:cNvPr id="11" name="Shape 9"/>
          <p:cNvSpPr/>
          <p:nvPr/>
        </p:nvSpPr>
        <p:spPr>
          <a:xfrm>
            <a:off x="2395728" y="1417320"/>
            <a:ext cx="731520" cy="246888"/>
          </a:xfrm>
          <a:prstGeom prst="rect">
            <a:avLst/>
          </a:prstGeom>
          <a:solidFill>
            <a:srgbClr val="000000"/>
          </a:solidFill>
          <a:ln w="12700">
            <a:solidFill>
              <a:srgbClr val="000000"/>
            </a:solidFill>
            <a:prstDash val="solid"/>
          </a:ln>
        </p:spPr>
      </p:sp>
      <p:sp>
        <p:nvSpPr>
          <p:cNvPr id="12" name="Text 10"/>
          <p:cNvSpPr/>
          <p:nvPr/>
        </p:nvSpPr>
        <p:spPr>
          <a:xfrm>
            <a:off x="2468880"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基地地理</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822960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8229600" cy="2743200"/>
          </a:xfrm>
          <a:prstGeom prst="rect">
            <a:avLst/>
          </a:prstGeom>
          <a:noFill/>
          <a:ln/>
        </p:spPr>
        <p:txBody>
          <a:bodyPr wrap="square" rtlCol="0" anchor="ctr"/>
          <a:lstStyle/>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博物館位於隆河與索恩河的匯流點。建築以兩個截然不同的量體回應此地理事件：沉重的「混凝土雲」基座承載永久展廳，透明的不鏽鋼「水晶」懸浮其上作為臨時展廳入口大廳。兩者的交界處形成一個戲劇性的內部中庭。量體的二元性使程式差異在建築語言上清楚可辨。</a:t>
            </a:r>
            <a:endParaRPr lang="en-US" sz="1000" dirty="0"/>
          </a:p>
          <a:p>
            <a:pPr algn="l" indent="0" marL="0">
              <a:spcAft>
                <a:spcPts val="500"/>
              </a:spcAft>
              <a:buNone/>
            </a:pPr>
            <a:endParaRPr lang="en-US" sz="1000" dirty="0"/>
          </a:p>
          <a:p>
            <a:pPr algn="l" indent="0" marL="0">
              <a:spcAft>
                <a:spcPts val="500"/>
              </a:spcAft>
              <a:buNone/>
            </a:pPr>
            <a:r>
              <a:rPr lang="en-US" sz="1000" dirty="0">
                <a:solidFill>
                  <a:srgbClr val="444444"/>
                </a:solidFill>
                <a:latin typeface="Arial" pitchFamily="34" charset="0"/>
                <a:ea typeface="Arial" pitchFamily="34" charset="-122"/>
                <a:cs typeface="Arial" pitchFamily="34" charset="-120"/>
              </a:rPr>
              <a:t>可應用的設計概念：不同的程式類型可以被賦予不同的建築語言，而非被整合進單一的均質量體。「程式差異即形式差異」是一種誠實且清晰的設計策略。</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rtlCol="0" anchor="ctr"/>
          <a:lstStyle/>
          <a:p>
            <a:pPr algn="l" indent="0" marL="0">
              <a:buNone/>
            </a:pPr>
            <a:r>
              <a:rPr lang="en-US" sz="750" spc="200" kern="0" dirty="0">
                <a:solidFill>
                  <a:srgbClr val="888888"/>
                </a:solidFill>
                <a:latin typeface="Arial" pitchFamily="34" charset="0"/>
                <a:ea typeface="Arial" pitchFamily="34" charset="-122"/>
                <a:cs typeface="Arial" pitchFamily="34" charset="-120"/>
              </a:rPr>
              <a:t>06  空間作為敘事</a:t>
            </a:r>
            <a:endParaRPr lang="en-US" sz="750" dirty="0"/>
          </a:p>
        </p:txBody>
      </p:sp>
      <p:sp>
        <p:nvSpPr>
          <p:cNvPr id="3" name="Text 1"/>
          <p:cNvSpPr/>
          <p:nvPr/>
        </p:nvSpPr>
        <p:spPr>
          <a:xfrm>
            <a:off x="7406640" y="91440"/>
            <a:ext cx="1280160" cy="502920"/>
          </a:xfrm>
          <a:prstGeom prst="rect">
            <a:avLst/>
          </a:prstGeom>
          <a:noFill/>
          <a:ln/>
        </p:spPr>
        <p:txBody>
          <a:bodyPr wrap="square" rtlCol="0" anchor="ctr"/>
          <a:lstStyle/>
          <a:p>
            <a:pPr algn="r" indent="0" marL="0">
              <a:buNone/>
            </a:pPr>
            <a:r>
              <a:rPr lang="en-US" sz="3000" b="1" dirty="0">
                <a:solidFill>
                  <a:srgbClr val="EBEBEB"/>
                </a:solidFill>
                <a:latin typeface="Arial" pitchFamily="34" charset="0"/>
                <a:ea typeface="Arial" pitchFamily="34" charset="-122"/>
                <a:cs typeface="Arial" pitchFamily="34" charset="-120"/>
              </a:rPr>
              <a:t>06</a:t>
            </a:r>
            <a:endParaRPr lang="en-US" sz="3000" dirty="0"/>
          </a:p>
        </p:txBody>
      </p:sp>
      <p:sp>
        <p:nvSpPr>
          <p:cNvPr id="4" name="Shape 2"/>
          <p:cNvSpPr/>
          <p:nvPr/>
        </p:nvSpPr>
        <p:spPr>
          <a:xfrm>
            <a:off x="457200" y="548640"/>
            <a:ext cx="8229600" cy="0"/>
          </a:xfrm>
          <a:prstGeom prst="line">
            <a:avLst/>
          </a:prstGeom>
          <a:noFill/>
          <a:ln w="6350">
            <a:solidFill>
              <a:srgbClr val="000000"/>
            </a:solidFill>
            <a:prstDash val="solid"/>
          </a:ln>
        </p:spPr>
      </p:sp>
      <p:sp>
        <p:nvSpPr>
          <p:cNvPr id="5" name="Text 3"/>
          <p:cNvSpPr/>
          <p:nvPr/>
        </p:nvSpPr>
        <p:spPr>
          <a:xfrm>
            <a:off x="457200" y="621792"/>
            <a:ext cx="5029200" cy="438912"/>
          </a:xfrm>
          <a:prstGeom prst="rect">
            <a:avLst/>
          </a:prstGeom>
          <a:noFill/>
          <a:ln/>
        </p:spPr>
        <p:txBody>
          <a:bodyPr wrap="square" rtlCol="0" anchor="ctr"/>
          <a:lstStyle/>
          <a:p>
            <a:pPr indent="0" marL="0">
              <a:buNone/>
            </a:pPr>
            <a:r>
              <a:rPr lang="en-US" sz="1800" b="1" dirty="0">
                <a:solidFill>
                  <a:srgbClr val="000000"/>
                </a:solidFill>
                <a:latin typeface="Arial" pitchFamily="34" charset="0"/>
                <a:ea typeface="Arial" pitchFamily="34" charset="-122"/>
                <a:cs typeface="Arial" pitchFamily="34" charset="-120"/>
              </a:rPr>
              <a:t>奇美博物館</a:t>
            </a:r>
            <a:endParaRPr lang="en-US" sz="1800" dirty="0"/>
          </a:p>
        </p:txBody>
      </p:sp>
      <p:sp>
        <p:nvSpPr>
          <p:cNvPr id="6" name="Text 4"/>
          <p:cNvSpPr/>
          <p:nvPr/>
        </p:nvSpPr>
        <p:spPr>
          <a:xfrm>
            <a:off x="457200" y="1078992"/>
            <a:ext cx="5486400" cy="256032"/>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台灣台南  ·  2015  ·  30,000 m²</a:t>
            </a:r>
            <a:endParaRPr lang="en-US" sz="900" dirty="0"/>
          </a:p>
        </p:txBody>
      </p:sp>
      <p:sp>
        <p:nvSpPr>
          <p:cNvPr id="7" name="Shape 5"/>
          <p:cNvSpPr/>
          <p:nvPr/>
        </p:nvSpPr>
        <p:spPr>
          <a:xfrm>
            <a:off x="457200" y="1417320"/>
            <a:ext cx="731520" cy="246888"/>
          </a:xfrm>
          <a:prstGeom prst="rect">
            <a:avLst/>
          </a:prstGeom>
          <a:solidFill>
            <a:srgbClr val="000000"/>
          </a:solidFill>
          <a:ln w="12700">
            <a:solidFill>
              <a:srgbClr val="000000"/>
            </a:solidFill>
            <a:prstDash val="solid"/>
          </a:ln>
        </p:spPr>
      </p:sp>
      <p:sp>
        <p:nvSpPr>
          <p:cNvPr id="8" name="Text 6"/>
          <p:cNvSpPr/>
          <p:nvPr/>
        </p:nvSpPr>
        <p:spPr>
          <a:xfrm>
            <a:off x="53035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新古典主義</a:t>
            </a:r>
            <a:endParaRPr lang="en-US" sz="750" dirty="0"/>
          </a:p>
        </p:txBody>
      </p:sp>
      <p:sp>
        <p:nvSpPr>
          <p:cNvPr id="9" name="Shape 7"/>
          <p:cNvSpPr/>
          <p:nvPr/>
        </p:nvSpPr>
        <p:spPr>
          <a:xfrm>
            <a:off x="1280160" y="1417320"/>
            <a:ext cx="731520" cy="246888"/>
          </a:xfrm>
          <a:prstGeom prst="rect">
            <a:avLst/>
          </a:prstGeom>
          <a:solidFill>
            <a:srgbClr val="000000"/>
          </a:solidFill>
          <a:ln w="12700">
            <a:solidFill>
              <a:srgbClr val="000000"/>
            </a:solidFill>
            <a:prstDash val="solid"/>
          </a:ln>
        </p:spPr>
      </p:sp>
      <p:sp>
        <p:nvSpPr>
          <p:cNvPr id="10" name="Text 8"/>
          <p:cNvSpPr/>
          <p:nvPr/>
        </p:nvSpPr>
        <p:spPr>
          <a:xfrm>
            <a:off x="1353312" y="1453896"/>
            <a:ext cx="658368"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私立機構</a:t>
            </a:r>
            <a:endParaRPr lang="en-US" sz="750" dirty="0"/>
          </a:p>
        </p:txBody>
      </p:sp>
      <p:sp>
        <p:nvSpPr>
          <p:cNvPr id="11" name="Shape 9"/>
          <p:cNvSpPr/>
          <p:nvPr/>
        </p:nvSpPr>
        <p:spPr>
          <a:xfrm>
            <a:off x="2103120" y="1417320"/>
            <a:ext cx="813816" cy="246888"/>
          </a:xfrm>
          <a:prstGeom prst="rect">
            <a:avLst/>
          </a:prstGeom>
          <a:solidFill>
            <a:srgbClr val="000000"/>
          </a:solidFill>
          <a:ln w="12700">
            <a:solidFill>
              <a:srgbClr val="000000"/>
            </a:solidFill>
            <a:prstDash val="solid"/>
          </a:ln>
        </p:spPr>
      </p:sp>
      <p:sp>
        <p:nvSpPr>
          <p:cNvPr id="12" name="Text 10"/>
          <p:cNvSpPr/>
          <p:nvPr/>
        </p:nvSpPr>
        <p:spPr>
          <a:xfrm>
            <a:off x="2176272" y="1453896"/>
            <a:ext cx="740664" cy="201168"/>
          </a:xfrm>
          <a:prstGeom prst="rect">
            <a:avLst/>
          </a:prstGeom>
          <a:noFill/>
          <a:ln/>
        </p:spPr>
        <p:txBody>
          <a:bodyPr wrap="square"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建築作為宣示</a:t>
            </a:r>
            <a:endParaRPr lang="en-US" sz="750" dirty="0"/>
          </a:p>
        </p:txBody>
      </p:sp>
      <p:sp>
        <p:nvSpPr>
          <p:cNvPr id="13" name="Shape 11"/>
          <p:cNvSpPr/>
          <p:nvPr/>
        </p:nvSpPr>
        <p:spPr>
          <a:xfrm>
            <a:off x="457200" y="1783080"/>
            <a:ext cx="8229600" cy="0"/>
          </a:xfrm>
          <a:prstGeom prst="line">
            <a:avLst/>
          </a:prstGeom>
          <a:noFill/>
          <a:ln w="6350">
            <a:solidFill>
              <a:srgbClr val="EEEEEE"/>
            </a:solidFill>
            <a:prstDash val="solid"/>
          </a:ln>
        </p:spPr>
      </p:sp>
      <p:sp>
        <p:nvSpPr>
          <p:cNvPr id="14" name="Text 12"/>
          <p:cNvSpPr/>
          <p:nvPr/>
        </p:nvSpPr>
        <p:spPr>
          <a:xfrm>
            <a:off x="457200" y="187452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設計策略</a:t>
            </a:r>
            <a:endParaRPr lang="en-US" sz="800" dirty="0"/>
          </a:p>
        </p:txBody>
      </p:sp>
      <p:sp>
        <p:nvSpPr>
          <p:cNvPr id="15" name="Text 13"/>
          <p:cNvSpPr/>
          <p:nvPr/>
        </p:nvSpPr>
        <p:spPr>
          <a:xfrm>
            <a:off x="457200" y="2148840"/>
            <a:ext cx="4389120" cy="118872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奇美博物館在台灣當代建築脈絡中是一個特例：刻意選用對稱柱廊、圓頂、古典花園的新古典語彙。這並非風格上的保守，而是機構定位的宣示——以「永久性的公民建築」形象奠定其西方藝術收藏的正當性與重要性。</a:t>
            </a:r>
            <a:endParaRPr lang="en-US" sz="1000" dirty="0"/>
          </a:p>
        </p:txBody>
      </p:sp>
      <p:sp>
        <p:nvSpPr>
          <p:cNvPr id="16" name="Text 14"/>
          <p:cNvSpPr/>
          <p:nvPr/>
        </p:nvSpPr>
        <p:spPr>
          <a:xfrm>
            <a:off x="457200" y="3383280"/>
            <a:ext cx="4389120" cy="256032"/>
          </a:xfrm>
          <a:prstGeom prst="rect">
            <a:avLst/>
          </a:prstGeom>
          <a:noFill/>
          <a:ln/>
        </p:spPr>
        <p:txBody>
          <a:bodyPr wrap="square" rtlCol="0" anchor="ctr"/>
          <a:lstStyle/>
          <a:p>
            <a:pPr indent="0" marL="0">
              <a:buNone/>
            </a:pPr>
            <a:r>
              <a:rPr lang="en-US" sz="800" b="1" spc="150" kern="0" dirty="0">
                <a:solidFill>
                  <a:srgbClr val="888888"/>
                </a:solidFill>
                <a:latin typeface="Arial" pitchFamily="34" charset="0"/>
                <a:ea typeface="Arial" pitchFamily="34" charset="-122"/>
                <a:cs typeface="Arial" pitchFamily="34" charset="-120"/>
              </a:rPr>
              <a:t>可應用的設計概念</a:t>
            </a:r>
            <a:endParaRPr lang="en-US" sz="800" dirty="0"/>
          </a:p>
        </p:txBody>
      </p:sp>
      <p:sp>
        <p:nvSpPr>
          <p:cNvPr id="17" name="Text 15"/>
          <p:cNvSpPr/>
          <p:nvPr/>
        </p:nvSpPr>
        <p:spPr>
          <a:xfrm>
            <a:off x="457200" y="3657600"/>
            <a:ext cx="4389120" cy="1188720"/>
          </a:xfrm>
          <a:prstGeom prst="rect">
            <a:avLst/>
          </a:prstGeom>
          <a:noFill/>
          <a:ln/>
        </p:spPr>
        <p:txBody>
          <a:bodyPr wrap="square" rtlCol="0" anchor="ctr"/>
          <a:lstStyle/>
          <a:p>
            <a:pPr algn="l" indent="0" marL="0">
              <a:spcAft>
                <a:spcPts val="400"/>
              </a:spcAft>
              <a:buNone/>
            </a:pPr>
            <a:r>
              <a:rPr lang="en-US" sz="1000" dirty="0">
                <a:solidFill>
                  <a:srgbClr val="444444"/>
                </a:solidFill>
                <a:latin typeface="Arial" pitchFamily="34" charset="0"/>
                <a:ea typeface="Arial" pitchFamily="34" charset="-122"/>
                <a:cs typeface="Arial" pitchFamily="34" charset="-120"/>
              </a:rPr>
              <a:t>建築語言是機構意志的表達。風格的選擇不只是美學問題，也是關於「這棟建築要對社會說什麼」的問題。</a:t>
            </a:r>
            <a:endParaRPr lang="en-US" sz="1000" dirty="0"/>
          </a:p>
        </p:txBody>
      </p:sp>
      <p:sp>
        <p:nvSpPr>
          <p:cNvPr id="18" name="Shape 16"/>
          <p:cNvSpPr/>
          <p:nvPr/>
        </p:nvSpPr>
        <p:spPr>
          <a:xfrm>
            <a:off x="5120640" y="621792"/>
            <a:ext cx="3566160" cy="4206240"/>
          </a:xfrm>
          <a:prstGeom prst="rect">
            <a:avLst/>
          </a:prstGeom>
          <a:solidFill>
            <a:srgbClr val="F2F2F2"/>
          </a:solidFill>
          <a:ln w="12700">
            <a:solidFill>
              <a:srgbClr val="CCCCCC"/>
            </a:solidFill>
            <a:prstDash val="solid"/>
          </a:ln>
        </p:spPr>
      </p:sp>
      <p:sp>
        <p:nvSpPr>
          <p:cNvPr id="19" name="Text 17"/>
          <p:cNvSpPr/>
          <p:nvPr/>
        </p:nvSpPr>
        <p:spPr>
          <a:xfrm>
            <a:off x="5120640" y="2468880"/>
            <a:ext cx="3566160" cy="256032"/>
          </a:xfrm>
          <a:prstGeom prst="rect">
            <a:avLst/>
          </a:prstGeom>
          <a:noFill/>
          <a:ln/>
        </p:spPr>
        <p:txBody>
          <a:bodyPr wrap="square" rtlCol="0" anchor="ctr"/>
          <a:lstStyle/>
          <a:p>
            <a:pPr algn="ctr" indent="0" marL="0">
              <a:buNone/>
            </a:pPr>
            <a:r>
              <a:rPr lang="en-US" sz="900" dirty="0">
                <a:solidFill>
                  <a:srgbClr val="BBBBBB"/>
                </a:solidFill>
                <a:latin typeface="Arial" pitchFamily="34" charset="0"/>
                <a:ea typeface="Arial" pitchFamily="34" charset="-122"/>
                <a:cs typeface="Arial" pitchFamily="34" charset="-120"/>
              </a:rPr>
              <a:t>[ 圖片 ]</a:t>
            </a:r>
            <a:endParaRPr lang="en-US" sz="900" dirty="0"/>
          </a:p>
        </p:txBody>
      </p:sp>
      <p:sp>
        <p:nvSpPr>
          <p:cNvPr id="20" name="Text 18"/>
          <p:cNvSpPr/>
          <p:nvPr/>
        </p:nvSpPr>
        <p:spPr>
          <a:xfrm>
            <a:off x="5212080" y="2724912"/>
            <a:ext cx="3383280" cy="292608"/>
          </a:xfrm>
          <a:prstGeom prst="rect">
            <a:avLst/>
          </a:prstGeom>
          <a:noFill/>
          <a:ln/>
        </p:spPr>
        <p:txBody>
          <a:bodyPr wrap="square" rtlCol="0" anchor="ctr"/>
          <a:lstStyle/>
          <a:p>
            <a:pPr algn="ctr" indent="0" marL="0">
              <a:buNone/>
            </a:pPr>
            <a:r>
              <a:rPr lang="en-US" sz="800" i="1" dirty="0">
                <a:solidFill>
                  <a:srgbClr val="999999"/>
                </a:solidFill>
                <a:latin typeface="Arial" pitchFamily="34" charset="0"/>
                <a:ea typeface="Arial" pitchFamily="34" charset="-122"/>
                <a:cs typeface="Arial" pitchFamily="34" charset="-120"/>
              </a:rPr>
              <a:t>奇美博物館 Chimei Museum Tainan neoclassical exterior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822960"/>
            <a:ext cx="8229600" cy="640080"/>
          </a:xfrm>
          <a:prstGeom prst="rect">
            <a:avLst/>
          </a:prstGeom>
          <a:noFill/>
          <a:ln/>
        </p:spPr>
        <p:txBody>
          <a:bodyPr wrap="square" rtlCol="0" anchor="ctr"/>
          <a:lstStyle/>
          <a:p>
            <a:pPr algn="l" indent="0" marL="0">
              <a:buNone/>
            </a:pPr>
            <a:r>
              <a:rPr lang="en-US" sz="4600" b="1" spc="600" kern="0" dirty="0">
                <a:solidFill>
                  <a:srgbClr val="FFFFFF"/>
                </a:solidFill>
                <a:latin typeface="Arial" pitchFamily="34" charset="0"/>
                <a:ea typeface="Arial" pitchFamily="34" charset="-122"/>
                <a:cs typeface="Arial" pitchFamily="34" charset="-120"/>
              </a:rPr>
              <a:t>六個策略</a:t>
            </a:r>
            <a:endParaRPr lang="en-US" sz="4600" dirty="0"/>
          </a:p>
        </p:txBody>
      </p:sp>
      <p:sp>
        <p:nvSpPr>
          <p:cNvPr id="3" name="Shape 1"/>
          <p:cNvSpPr/>
          <p:nvPr/>
        </p:nvSpPr>
        <p:spPr>
          <a:xfrm>
            <a:off x="457200" y="1600200"/>
            <a:ext cx="8229600" cy="0"/>
          </a:xfrm>
          <a:prstGeom prst="line">
            <a:avLst/>
          </a:prstGeom>
          <a:noFill/>
          <a:ln w="6350">
            <a:solidFill>
              <a:srgbClr val="333333"/>
            </a:solidFill>
            <a:prstDash val="solid"/>
          </a:ln>
        </p:spPr>
      </p:sp>
      <p:sp>
        <p:nvSpPr>
          <p:cNvPr id="4" name="Text 2"/>
          <p:cNvSpPr/>
          <p:nvPr/>
        </p:nvSpPr>
        <p:spPr>
          <a:xfrm>
            <a:off x="457200" y="1737360"/>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01</a:t>
            </a:r>
            <a:endParaRPr lang="en-US" sz="1000" dirty="0"/>
          </a:p>
        </p:txBody>
      </p:sp>
      <p:sp>
        <p:nvSpPr>
          <p:cNvPr id="5" name="Text 3"/>
          <p:cNvSpPr/>
          <p:nvPr/>
        </p:nvSpPr>
        <p:spPr>
          <a:xfrm>
            <a:off x="1005840" y="1737360"/>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建築作為都市事件</a:t>
            </a:r>
            <a:endParaRPr lang="en-US" sz="1200" dirty="0"/>
          </a:p>
        </p:txBody>
      </p:sp>
      <p:sp>
        <p:nvSpPr>
          <p:cNvPr id="6" name="Text 4"/>
          <p:cNvSpPr/>
          <p:nvPr/>
        </p:nvSpPr>
        <p:spPr>
          <a:xfrm>
            <a:off x="4663440" y="1737360"/>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形式的力量足以改變城市</a:t>
            </a:r>
            <a:endParaRPr lang="en-US" sz="1000" dirty="0"/>
          </a:p>
        </p:txBody>
      </p:sp>
      <p:sp>
        <p:nvSpPr>
          <p:cNvPr id="7" name="Text 5"/>
          <p:cNvSpPr/>
          <p:nvPr/>
        </p:nvSpPr>
        <p:spPr>
          <a:xfrm>
            <a:off x="457200" y="2267712"/>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02</a:t>
            </a:r>
            <a:endParaRPr lang="en-US" sz="1000" dirty="0"/>
          </a:p>
        </p:txBody>
      </p:sp>
      <p:sp>
        <p:nvSpPr>
          <p:cNvPr id="8" name="Text 6"/>
          <p:cNvSpPr/>
          <p:nvPr/>
        </p:nvSpPr>
        <p:spPr>
          <a:xfrm>
            <a:off x="1005840" y="2267712"/>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光線作為設計媒介</a:t>
            </a:r>
            <a:endParaRPr lang="en-US" sz="1200" dirty="0"/>
          </a:p>
        </p:txBody>
      </p:sp>
      <p:sp>
        <p:nvSpPr>
          <p:cNvPr id="9" name="Text 7"/>
          <p:cNvSpPr/>
          <p:nvPr/>
        </p:nvSpPr>
        <p:spPr>
          <a:xfrm>
            <a:off x="4663440" y="2267712"/>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光是空間性格的核心</a:t>
            </a:r>
            <a:endParaRPr lang="en-US" sz="1000" dirty="0"/>
          </a:p>
        </p:txBody>
      </p:sp>
      <p:sp>
        <p:nvSpPr>
          <p:cNvPr id="10" name="Text 8"/>
          <p:cNvSpPr/>
          <p:nvPr/>
        </p:nvSpPr>
        <p:spPr>
          <a:xfrm>
            <a:off x="457200" y="2798064"/>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03</a:t>
            </a:r>
            <a:endParaRPr lang="en-US" sz="1000" dirty="0"/>
          </a:p>
        </p:txBody>
      </p:sp>
      <p:sp>
        <p:nvSpPr>
          <p:cNvPr id="11" name="Text 9"/>
          <p:cNvSpPr/>
          <p:nvPr/>
        </p:nvSpPr>
        <p:spPr>
          <a:xfrm>
            <a:off x="1005840" y="2798064"/>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再利用與轉化</a:t>
            </a:r>
            <a:endParaRPr lang="en-US" sz="1200" dirty="0"/>
          </a:p>
        </p:txBody>
      </p:sp>
      <p:sp>
        <p:nvSpPr>
          <p:cNvPr id="12" name="Text 10"/>
          <p:cNvSpPr/>
          <p:nvPr/>
        </p:nvSpPr>
        <p:spPr>
          <a:xfrm>
            <a:off x="4663440" y="2798064"/>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保留即設計，挖掘既有潛力</a:t>
            </a:r>
            <a:endParaRPr lang="en-US" sz="1000" dirty="0"/>
          </a:p>
        </p:txBody>
      </p:sp>
      <p:sp>
        <p:nvSpPr>
          <p:cNvPr id="13" name="Text 11"/>
          <p:cNvSpPr/>
          <p:nvPr/>
        </p:nvSpPr>
        <p:spPr>
          <a:xfrm>
            <a:off x="457200" y="3328416"/>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04</a:t>
            </a:r>
            <a:endParaRPr lang="en-US" sz="1000" dirty="0"/>
          </a:p>
        </p:txBody>
      </p:sp>
      <p:sp>
        <p:nvSpPr>
          <p:cNvPr id="14" name="Text 12"/>
          <p:cNvSpPr/>
          <p:nvPr/>
        </p:nvSpPr>
        <p:spPr>
          <a:xfrm>
            <a:off x="1005840" y="3328416"/>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形式語言與表皮系統</a:t>
            </a:r>
            <a:endParaRPr lang="en-US" sz="1200" dirty="0"/>
          </a:p>
        </p:txBody>
      </p:sp>
      <p:sp>
        <p:nvSpPr>
          <p:cNvPr id="15" name="Text 13"/>
          <p:cNvSpPr/>
          <p:nvPr/>
        </p:nvSpPr>
        <p:spPr>
          <a:xfrm>
            <a:off x="4663440" y="3328416"/>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一個系統同時解決所有問題</a:t>
            </a:r>
            <a:endParaRPr lang="en-US" sz="1000" dirty="0"/>
          </a:p>
        </p:txBody>
      </p:sp>
      <p:sp>
        <p:nvSpPr>
          <p:cNvPr id="16" name="Text 14"/>
          <p:cNvSpPr/>
          <p:nvPr/>
        </p:nvSpPr>
        <p:spPr>
          <a:xfrm>
            <a:off x="457200" y="3858768"/>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05</a:t>
            </a:r>
            <a:endParaRPr lang="en-US" sz="1000" dirty="0"/>
          </a:p>
        </p:txBody>
      </p:sp>
      <p:sp>
        <p:nvSpPr>
          <p:cNvPr id="17" name="Text 15"/>
          <p:cNvSpPr/>
          <p:nvPr/>
        </p:nvSpPr>
        <p:spPr>
          <a:xfrm>
            <a:off x="1005840" y="3858768"/>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建築嵌入地景</a:t>
            </a:r>
            <a:endParaRPr lang="en-US" sz="1200" dirty="0"/>
          </a:p>
        </p:txBody>
      </p:sp>
      <p:sp>
        <p:nvSpPr>
          <p:cNvPr id="18" name="Text 16"/>
          <p:cNvSpPr/>
          <p:nvPr/>
        </p:nvSpPr>
        <p:spPr>
          <a:xfrm>
            <a:off x="4663440" y="3858768"/>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基地條件是設計的起點</a:t>
            </a:r>
            <a:endParaRPr lang="en-US" sz="1000" dirty="0"/>
          </a:p>
        </p:txBody>
      </p:sp>
      <p:sp>
        <p:nvSpPr>
          <p:cNvPr id="19" name="Text 17"/>
          <p:cNvSpPr/>
          <p:nvPr/>
        </p:nvSpPr>
        <p:spPr>
          <a:xfrm>
            <a:off x="457200" y="4389120"/>
            <a:ext cx="457200" cy="320040"/>
          </a:xfrm>
          <a:prstGeom prst="rect">
            <a:avLst/>
          </a:prstGeom>
          <a:noFill/>
          <a:ln/>
        </p:spPr>
        <p:txBody>
          <a:bodyPr wrap="square" rtlCol="0" anchor="ctr"/>
          <a:lstStyle/>
          <a:p>
            <a:pPr algn="l" indent="0" marL="0">
              <a:buNone/>
            </a:pPr>
            <a:r>
              <a:rPr lang="en-US" sz="1000" b="1" dirty="0">
                <a:solidFill>
                  <a:srgbClr val="444444"/>
                </a:solidFill>
                <a:latin typeface="Arial" pitchFamily="34" charset="0"/>
                <a:ea typeface="Arial" pitchFamily="34" charset="-122"/>
                <a:cs typeface="Arial" pitchFamily="34" charset="-120"/>
              </a:rPr>
              <a:t>06</a:t>
            </a:r>
            <a:endParaRPr lang="en-US" sz="1000" dirty="0"/>
          </a:p>
        </p:txBody>
      </p:sp>
      <p:sp>
        <p:nvSpPr>
          <p:cNvPr id="20" name="Text 18"/>
          <p:cNvSpPr/>
          <p:nvPr/>
        </p:nvSpPr>
        <p:spPr>
          <a:xfrm>
            <a:off x="1005840" y="4389120"/>
            <a:ext cx="3474720" cy="320040"/>
          </a:xfrm>
          <a:prstGeom prst="rect">
            <a:avLst/>
          </a:prstGeom>
          <a:noFill/>
          <a:ln/>
        </p:spPr>
        <p:txBody>
          <a:bodyPr wrap="square"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空間作為敘事</a:t>
            </a:r>
            <a:endParaRPr lang="en-US" sz="1200" dirty="0"/>
          </a:p>
        </p:txBody>
      </p:sp>
      <p:sp>
        <p:nvSpPr>
          <p:cNvPr id="21" name="Text 19"/>
          <p:cNvSpPr/>
          <p:nvPr/>
        </p:nvSpPr>
        <p:spPr>
          <a:xfrm>
            <a:off x="4663440" y="4389120"/>
            <a:ext cx="4023360" cy="320040"/>
          </a:xfrm>
          <a:prstGeom prst="rect">
            <a:avLst/>
          </a:prstGeom>
          <a:noFill/>
          <a:ln/>
        </p:spPr>
        <p:txBody>
          <a:bodyPr wrap="square" rtlCol="0" anchor="ctr"/>
          <a:lstStyle/>
          <a:p>
            <a:pPr algn="l" indent="0" marL="0">
              <a:buNone/>
            </a:pPr>
            <a:r>
              <a:rPr lang="en-US" sz="1000" dirty="0">
                <a:solidFill>
                  <a:srgbClr val="666666"/>
                </a:solidFill>
                <a:latin typeface="Arial" pitchFamily="34" charset="0"/>
                <a:ea typeface="Arial" pitchFamily="34" charset="-122"/>
                <a:cs typeface="Arial" pitchFamily="34" charset="-120"/>
              </a:rPr>
              <a:t>空間序列本身就是內容</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美術館案例分析</dc:title>
  <dc:subject>PptxGenJS Presentation</dc:subject>
  <dc:creator>PptxGenJS</dc:creator>
  <cp:lastModifiedBy>PptxGenJS</cp:lastModifiedBy>
  <cp:revision>1</cp:revision>
  <dcterms:created xsi:type="dcterms:W3CDTF">2026-05-12T13:01:31Z</dcterms:created>
  <dcterms:modified xsi:type="dcterms:W3CDTF">2026-05-12T13:01:31Z</dcterms:modified>
</cp:coreProperties>
</file>